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Rozpočet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bubble3D val="0"/>
            <c:spPr>
              <a:solidFill>
                <a:srgbClr val="21295C"/>
              </a:solidFill>
              <a:effectLst/>
            </c:spPr>
          </c:dPt>
          <c:dPt>
            <c:idx val="3"/>
            <c:bubble3D val="0"/>
            <c:spPr>
              <a:solidFill>
                <a:srgbClr val="F4A261"/>
              </a:solidFill>
              <a:effectLst/>
            </c:spPr>
          </c:dPt>
          <c:dPt>
            <c:idx val="4"/>
            <c:bubble3D val="0"/>
            <c:spPr>
              <a:solidFill>
                <a:srgbClr val="8B5A3C"/>
              </a:solidFill>
              <a:effectLst/>
            </c:spPr>
          </c:dPt>
          <c:dPt>
            <c:idx val="5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Vývoj portálu</c:v>
                </c:pt>
                <c:pt idx="1">
                  <c:v>Datová integrace</c:v>
                </c:pt>
                <c:pt idx="2">
                  <c:v>Personál</c:v>
                </c:pt>
                <c:pt idx="3">
                  <c:v>Vědecká garance</c:v>
                </c:pt>
                <c:pt idx="4">
                  <c:v>Komunikace</c:v>
                </c:pt>
                <c:pt idx="5">
                  <c:v>Rezerva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21</c:v>
                </c:pt>
                <c:pt idx="1">
                  <c:v>19</c:v>
                </c:pt>
                <c:pt idx="2">
                  <c:v>23</c:v>
                </c:pt>
                <c:pt idx="3">
                  <c:v>8</c:v>
                </c:pt>
                <c:pt idx="4">
                  <c:v>6</c:v>
                </c:pt>
                <c:pt idx="5">
                  <c:v>7.7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1C7293">
              <a:alpha val="4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0"/>
            <a:ext cx="137160" cy="1645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NÁRODNÍ PROJEKT · 2026–2029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Zdravé Česko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Národní portál pro hodnocení výkonnosti zdravotního systému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4023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Implementace HSPA podle metodiky OECD/WHO  </a:t>
            </a:r>
            <a:pPr indent="0" marL="0">
              <a:buNone/>
            </a:pPr>
            <a:r>
              <a:rPr lang="en-US" sz="16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inspirovaná modelem Healthy Belgium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Strategický plán · v1.0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18320" y="5943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květen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PROBLÉM, KTERÝ ŘEŠÍME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Česko měří dílčí kousky, ale nikdo nevidí celek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4747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3474720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828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Občan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3108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Nemá jedno místo, kam jít. Slyší kontradiktorní zprávy z politické debaty, ale nevidí čísla. Důsledek: klesající důvěra.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1554480"/>
            <a:ext cx="34747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554480"/>
            <a:ext cx="3474720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828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Lékař / manažer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09160" y="2377440"/>
            <a:ext cx="3108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Vidí dílčí indikátory ze svého oboru. Nemá srovnání s evropským standardem ani s jinými poskytovateli v jednom okamžiku.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1554480"/>
            <a:ext cx="34747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1554480"/>
            <a:ext cx="3474720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1828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Tvůrce politik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503920" y="2377440"/>
            <a:ext cx="3108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Dostává čísla z různých zdrojů, často bez kontextu trendu. Každá reforma se obhajuje vlastními daty — chybí společný jazyk.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Existuje datová infrastruktura. Existuje rámec OECD HSPA. Chybí veřejně viditelný integrační bod.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Zdravé Česko · HSPA pro ČR · květen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INSPIRACE: HEALTHY BELGIUM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Belgie ukázala, že to jde — a my máme připraveno víc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5394960" cy="3840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healthybelgium.be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0574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let zkušeností · 5. edice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indikátorů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38328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dimenzí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914400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tematické moduly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3794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383280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poslední revize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14630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Tři pilíře, na kterých belgický model funguje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0" y="2011680"/>
            <a:ext cx="73152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0116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69480" y="2011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Vědecký garant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69480" y="2395728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Centrum znalostí KCE + Sciensano = nezávislá autorita mimo ministerstvo.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3291840"/>
            <a:ext cx="73152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2918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69480" y="32918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Široký konsenzus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69480" y="3675888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Federální + regionální vlády, pojišťovny, profesní organizace, pacientské svazy.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0" y="4572000"/>
            <a:ext cx="73152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45720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69480" y="45720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Veřejná tvář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69480" y="4956048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portál pro občany, odborníky i tvůrce politik. Tři vrstvy zobrazení.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Belgie 2023: přidala dimenzi environmentální udržitelnosti. Rámec se vyvíjí.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Zdravé Česko · HSPA pro ČR · květen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ČR UŽ MÁME VÍC, NEŽ SI MYSLÍME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ČR má hotovou metodiku, infrastrukturu i strategie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38761D"/>
          </a:solidFill>
          <a:ln w="12700">
            <a:solidFill>
              <a:srgbClr val="3876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691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HSPA Rámec (2023)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3317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domén, 28 subdomén, 122 indikátorů. Ve spolupráci OECD + EK + MZČR + ÚZIS.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46304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691640"/>
            <a:ext cx="502920" cy="502920"/>
          </a:xfrm>
          <a:prstGeom prst="ellipse">
            <a:avLst/>
          </a:prstGeom>
          <a:solidFill>
            <a:srgbClr val="38761D"/>
          </a:solidFill>
          <a:ln w="12700">
            <a:solidFill>
              <a:srgbClr val="38761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03520" y="1691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NZIS — 26 zdrav. registrů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3317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Zákon 372/2011 Sb. ÚZIS spravuje hospitalizace, výkony, perinatologii, onkologii, kardiovaskulární data.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146304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1691640"/>
            <a:ext cx="502920" cy="502920"/>
          </a:xfrm>
          <a:prstGeom prst="ellipse">
            <a:avLst/>
          </a:prstGeom>
          <a:solidFill>
            <a:srgbClr val="38761D"/>
          </a:solidFill>
          <a:ln w="12700">
            <a:solidFill>
              <a:srgbClr val="3876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16642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098280" y="1691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NZIP — veřejný portál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58200" y="23317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Národní zdravotnický informační portál. Vědecká rada (MZČR, ÚZIS, SZÚ, ČLS JEP, UK, MU, SUKL).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3886200"/>
            <a:ext cx="502920" cy="502920"/>
          </a:xfrm>
          <a:prstGeom prst="ellipse">
            <a:avLst/>
          </a:prstGeom>
          <a:solidFill>
            <a:srgbClr val="38761D"/>
          </a:solidFill>
          <a:ln w="12700">
            <a:solidFill>
              <a:srgbClr val="38761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38587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08760" y="3886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Strategický rámec do 2035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45262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MZČR 12/2025 — explicitně volá po datově podloženém řízení.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34840" y="365760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886200"/>
            <a:ext cx="502920" cy="502920"/>
          </a:xfrm>
          <a:prstGeom prst="ellipse">
            <a:avLst/>
          </a:prstGeom>
          <a:solidFill>
            <a:srgbClr val="38761D"/>
          </a:solidFill>
          <a:ln w="12700">
            <a:solidFill>
              <a:srgbClr val="38761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8587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03520" y="3886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Národní strategie eZdraví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63440" y="45262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2025–2035 — buduje datovou interoperabilitu (EHR, ePreskripce, ePacient).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0" y="365760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58200" y="3886200"/>
            <a:ext cx="502920" cy="502920"/>
          </a:xfrm>
          <a:prstGeom prst="ellipse">
            <a:avLst/>
          </a:prstGeom>
          <a:solidFill>
            <a:srgbClr val="38761D"/>
          </a:solidFill>
          <a:ln w="12700">
            <a:solidFill>
              <a:srgbClr val="38761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58200" y="38587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098280" y="3886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Indikátory NRC, VZP, SZÚ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458200" y="452628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HSMR, PROMs/PREMs, EHIS/EHES, DRG, 30denní mortalita po IM/CMP.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Zdravé Česko · HSPA pro ČR · květen 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CHYBÍ A PROČ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přesto pět věcí brzdí systémové měření výkonnosti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109728" cy="868680"/>
          </a:xfrm>
          <a:prstGeom prst="rect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45F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69164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Veřejný integrační bod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91640" y="196596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NZIP publikuje vybraná data, ale není to portál pro hodnocení výkonnosti. Občan neví, kde ho hledat.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10881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514600"/>
            <a:ext cx="109728" cy="868680"/>
          </a:xfrm>
          <a:prstGeom prst="rect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56032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45F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69164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Vícevrstvá komunikace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292608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Žádný současný zdroj nedělá rozlišení pro občana / odborníka / tvůrce politik. Všichni dostávají stejný formát.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474720"/>
            <a:ext cx="10881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474720"/>
            <a:ext cx="109728" cy="868680"/>
          </a:xfrm>
          <a:prstGeom prst="rect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52044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45F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69164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Externí vědecká garance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388620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Indikátory schvaluje MZČR — chybí KCE-typ nezávislé autority s veřejně viditelnou rolí.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434840"/>
            <a:ext cx="10881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434840"/>
            <a:ext cx="109728" cy="868680"/>
          </a:xfrm>
          <a:prstGeom prst="rect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48056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45F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691640" y="4526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Tematické moduly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484632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rámec je strukturní (oblasti). Chybí průřezové moduly: mentální zdraví, prevence, péče o seniory, equity.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394960"/>
            <a:ext cx="10881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5394960"/>
            <a:ext cx="109728" cy="868680"/>
          </a:xfrm>
          <a:prstGeom prst="rect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44068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45F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1691640" y="5486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Pravidelný publikační rytmus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91640" y="580644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První HSPA zpráva plánována leden 2025, dále á 4 roky. Belgie publikuje průběžně, ČR potřebuje rytmus.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Zdravé Česko · HSPA pro ČR · květen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NÁVRH: ZDRAVÉ ČESKO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Veřejný portál postavený na NZIS s třívrstvou komunikací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5204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3520440" cy="9144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OBČAN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Občan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5440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priorita: srozumitelnost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606040"/>
            <a:ext cx="3154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hlavních indikátorů na úvodu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krajů, srovnání s EU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Vysvětlivky v běžné češtině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politických hodnocení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1463040"/>
            <a:ext cx="35204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1463040"/>
            <a:ext cx="352044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ODBORNÍK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Odborník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5440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priorita: benchmark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2606040"/>
            <a:ext cx="3154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Filtry: region, specializace, poskytovatel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Stažení surových dat, citace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Integrace s NRC, NZIS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PREMs/PROMs sekce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0" y="1463040"/>
            <a:ext cx="35204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1463040"/>
            <a:ext cx="3520440" cy="914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1554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TVŮRCE POLITIK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5820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Tvůrce politik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458200" y="5440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priorita: opatření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0" y="2606040"/>
            <a:ext cx="31546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Navázání na Zdraví 2030 a Strategii 2035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Trend, mezera vůči OECD, doporučení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4-letý cíl pro každý indikátor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view dashboard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Zdravé Česko · HSPA pro ČR · květen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HSPA RÁMEC PRO ČR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oblasti × 12 domén × 28 subdomén × 122 indikátorů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697480" cy="7315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276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VÝSLEDKY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423160"/>
            <a:ext cx="91440" cy="6858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688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Zdravotní stav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200400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200400"/>
            <a:ext cx="91440" cy="6858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246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Zdravotní rizika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474720" y="1554480"/>
            <a:ext cx="269748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16276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VÝSTUPY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1188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2423160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2423160"/>
            <a:ext cx="9144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24688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Dostupnost péče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3200400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3200400"/>
            <a:ext cx="9144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3246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Kvalita péče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3977640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3977640"/>
            <a:ext cx="9144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40233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Finanční stabilita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1554480"/>
            <a:ext cx="2697480" cy="7315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16276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4652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0" y="2423160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2423160"/>
            <a:ext cx="9144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24688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Integrované poskytování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09360" y="3200400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3200400"/>
            <a:ext cx="9144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3246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Nákladově efektivní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09360" y="3977640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9360" y="3977640"/>
            <a:ext cx="9144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40233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Spravedlivé poskytování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144000" y="1554480"/>
            <a:ext cx="2697480" cy="7315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81160" y="16276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STRUKTURY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281160" y="1965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144000" y="2423160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44000" y="2423160"/>
            <a:ext cx="91440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72600" y="246888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Pracovní síla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144000" y="3200400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44000" y="3200400"/>
            <a:ext cx="91440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72600" y="324612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eHealth &amp; technologie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9144000" y="3977640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144000" y="3977640"/>
            <a:ext cx="91440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72600" y="40233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Financování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144000" y="4754880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144000" y="4754880"/>
            <a:ext cx="91440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372600" y="480060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Odolnost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Český rámec je kompatibilní s belgickým modelem (kvalita / dostupnost / udržitelnost / efektivita / equity / odolnost). Doporučujeme zařadit obě perspektivy.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Zdravé Česko · HSPA pro ČR · květen 2026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TEMATICKÉ MODULY (FÁZE 2–3)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Šest průřezových oblastí pro hloubkový pohled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352044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184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Fáze 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68680" y="2148840"/>
            <a:ext cx="777240" cy="7772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0312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783080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Mentální zdraví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 psych. péče, CDZ, čekací doby, sebevražednost, antidepresiva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155448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4840" y="1554480"/>
            <a:ext cx="352044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6184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Fáze 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148840"/>
            <a:ext cx="777240" cy="7772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10312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577840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Péče o seniory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29718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Geriatrie, pády, polypragmazie, integrace zdravotně-sociální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0" y="155448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0" y="1554480"/>
            <a:ext cx="3520440" cy="365760"/>
          </a:xfrm>
          <a:prstGeom prst="rect">
            <a:avLst/>
          </a:prstGeom>
          <a:solidFill>
            <a:srgbClr val="38761D"/>
          </a:solidFill>
          <a:ln w="12700">
            <a:solidFill>
              <a:srgbClr val="3876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0" y="16184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Fáze 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58200" y="2148840"/>
            <a:ext cx="777240" cy="777240"/>
          </a:xfrm>
          <a:prstGeom prst="ellipse">
            <a:avLst/>
          </a:prstGeom>
          <a:solidFill>
            <a:srgbClr val="38761D"/>
          </a:solidFill>
          <a:ln w="12700">
            <a:solidFill>
              <a:srgbClr val="38761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58200" y="210312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9372600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58200" y="29718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Screeningy (mamární, KRK), očkování, zdravotní gramotnost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374904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3749040"/>
            <a:ext cx="3520440" cy="365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8130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Fáze 2–3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68680" y="4343400"/>
            <a:ext cx="777240" cy="77724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429768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1783080" y="4389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68680" y="5166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Nerovnosti podle SES, regionu, pohlaví, věku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434840" y="374904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434840" y="3749040"/>
            <a:ext cx="3520440" cy="3657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38130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Fáze 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4343400"/>
            <a:ext cx="777240" cy="77724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0" y="429768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5577840" y="4389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Péče v závěru života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663440" y="5166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Paliativní péče, místo úmrtí, kvalita umírání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29600" y="3749040"/>
            <a:ext cx="35204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229600" y="3749040"/>
            <a:ext cx="3520440" cy="3657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12480" y="38130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Fáze 3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458200" y="4343400"/>
            <a:ext cx="777240" cy="77724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58200" y="429768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3200" dirty="0"/>
          </a:p>
        </p:txBody>
      </p:sp>
      <p:sp>
        <p:nvSpPr>
          <p:cNvPr id="45" name="Text 43"/>
          <p:cNvSpPr/>
          <p:nvPr/>
        </p:nvSpPr>
        <p:spPr>
          <a:xfrm>
            <a:off x="9372600" y="43891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Environmentální udržitel.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458200" y="51663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footprint nemocnic, odpady, energetika (jako Belgie 2023)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Zdravé Česko · HSPA pro ČR · květen 2026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STAV V ROCE 2025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data o ČR říkají dnes — 8 reálných čísel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697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2697480" cy="73152"/>
          </a:xfrm>
          <a:prstGeom prst="rect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B45F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79,9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Naděje dožití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2186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OECD: 81,1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1554480"/>
            <a:ext cx="2697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1554480"/>
            <a:ext cx="2697480" cy="73152"/>
          </a:xfrm>
          <a:prstGeom prst="rect">
            <a:avLst/>
          </a:prstGeom>
          <a:solidFill>
            <a:srgbClr val="38761D"/>
          </a:solidFill>
          <a:ln w="12700">
            <a:solidFill>
              <a:srgbClr val="3876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387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365760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0" y="2971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30d úmrtnost AMI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32186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OECD: 6,5%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1554480"/>
            <a:ext cx="2697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1554480"/>
            <a:ext cx="2697480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11,2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649224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2971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30d úmrtnost CMP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32186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OECD: 7,7%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44000" y="1554480"/>
            <a:ext cx="2697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0" y="1554480"/>
            <a:ext cx="2697480" cy="73152"/>
          </a:xfrm>
          <a:prstGeom prst="rect">
            <a:avLst/>
          </a:prstGeom>
          <a:solidFill>
            <a:srgbClr val="38761D"/>
          </a:solidFill>
          <a:ln w="12700">
            <a:solidFill>
              <a:srgbClr val="38761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0" y="18288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387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5600" dirty="0"/>
          </a:p>
        </p:txBody>
      </p:sp>
      <p:sp>
        <p:nvSpPr>
          <p:cNvPr id="26" name="Text 24"/>
          <p:cNvSpPr/>
          <p:nvPr/>
        </p:nvSpPr>
        <p:spPr>
          <a:xfrm>
            <a:off x="932688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26880" y="2971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Spokojenost s péčí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26880" y="32186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OECD: 64%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749040"/>
            <a:ext cx="2697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3749040"/>
            <a:ext cx="2697480" cy="73152"/>
          </a:xfrm>
          <a:prstGeom prst="rect">
            <a:avLst/>
          </a:prstGeom>
          <a:solidFill>
            <a:srgbClr val="38761D"/>
          </a:solidFill>
          <a:ln w="12700">
            <a:solidFill>
              <a:srgbClr val="38761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0233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3876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</a:t>
            </a:r>
            <a:endParaRPr lang="en-US" sz="5600" dirty="0"/>
          </a:p>
        </p:txBody>
      </p:sp>
      <p:sp>
        <p:nvSpPr>
          <p:cNvPr id="32" name="Text 30"/>
          <p:cNvSpPr/>
          <p:nvPr/>
        </p:nvSpPr>
        <p:spPr>
          <a:xfrm>
            <a:off x="822960" y="4892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/1k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2960" y="5166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Lékaři / 1 000 obyv.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" y="54132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OECD: 3,9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474720" y="3749040"/>
            <a:ext cx="2697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474720" y="3749040"/>
            <a:ext cx="2697480" cy="73152"/>
          </a:xfrm>
          <a:prstGeom prst="rect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40233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B45F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</a:t>
            </a:r>
            <a:endParaRPr lang="en-US" sz="5600" dirty="0"/>
          </a:p>
        </p:txBody>
      </p:sp>
      <p:sp>
        <p:nvSpPr>
          <p:cNvPr id="38" name="Text 36"/>
          <p:cNvSpPr/>
          <p:nvPr/>
        </p:nvSpPr>
        <p:spPr>
          <a:xfrm>
            <a:off x="3657600" y="4892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657600" y="5166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Výdaje / HDP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657600" y="54132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OECD: 9,3%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09360" y="3749040"/>
            <a:ext cx="2697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09360" y="3749040"/>
            <a:ext cx="2697480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40233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14,1</a:t>
            </a:r>
            <a:endParaRPr lang="en-US" sz="5600" dirty="0"/>
          </a:p>
        </p:txBody>
      </p:sp>
      <p:sp>
        <p:nvSpPr>
          <p:cNvPr id="44" name="Text 42"/>
          <p:cNvSpPr/>
          <p:nvPr/>
        </p:nvSpPr>
        <p:spPr>
          <a:xfrm>
            <a:off x="6492240" y="4892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µg/m³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492240" y="5166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Expozice PM2.5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492240" y="54132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OECD: 11,2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144000" y="3749040"/>
            <a:ext cx="2697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9144000" y="3749040"/>
            <a:ext cx="2697480" cy="73152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26880" y="40233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22,6</a:t>
            </a:r>
            <a:endParaRPr lang="en-US" sz="5600" dirty="0"/>
          </a:p>
        </p:txBody>
      </p:sp>
      <p:sp>
        <p:nvSpPr>
          <p:cNvPr id="50" name="Text 48"/>
          <p:cNvSpPr/>
          <p:nvPr/>
        </p:nvSpPr>
        <p:spPr>
          <a:xfrm>
            <a:off x="9326880" y="4892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9326880" y="51663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Denní kuřáci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326880" y="54132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OECD: 16%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Dobré v akutní kardiovaskulární péči. Slabé v cévní mozkové příhodě, prevenci a životním stylu.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Zdravé Česko · HSPA pro ČR · květen 2026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DATOVÉ ZDROJE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Federovaný přístup — nestavíme od nuly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754880" y="2194560"/>
            <a:ext cx="2651760" cy="14630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46320" y="23774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ZDRAVÉ ČESKO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2697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Harmonizační vrstva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3108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veřejné API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46304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463040"/>
            <a:ext cx="73152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554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NZIS / ÚZIS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1920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registrů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51760" y="1874520"/>
            <a:ext cx="2743200" cy="146304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" y="274320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743200"/>
            <a:ext cx="73152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8346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2004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kvalita péče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51760" y="3154680"/>
            <a:ext cx="2743200" cy="18288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0080" y="402336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023360"/>
            <a:ext cx="73152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114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VZP / SZP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44805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k-kódy, recepty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51760" y="4434840"/>
            <a:ext cx="2743200" cy="-109728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40080" y="530352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5303520"/>
            <a:ext cx="73152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3949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SZÚ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57607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EHIS, EHES, ŽP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51760" y="5715000"/>
            <a:ext cx="2743200" cy="-2377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509760" y="146304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509760" y="1463040"/>
            <a:ext cx="73152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92640" y="15544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/ Eurostat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92640" y="19202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06640" y="2926080"/>
            <a:ext cx="2103120" cy="-105156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headEnd type="triangle"/>
          </a:ln>
        </p:spPr>
      </p:sp>
      <p:sp>
        <p:nvSpPr>
          <p:cNvPr id="34" name="Shape 32"/>
          <p:cNvSpPr/>
          <p:nvPr/>
        </p:nvSpPr>
        <p:spPr>
          <a:xfrm>
            <a:off x="9509760" y="274320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509760" y="2743200"/>
            <a:ext cx="73152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92640" y="28346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ČSÚ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692640" y="32004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demografie, EU-SILC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406640" y="2926080"/>
            <a:ext cx="2103120" cy="22860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headEnd type="triangle"/>
          </a:ln>
        </p:spPr>
      </p:sp>
      <p:sp>
        <p:nvSpPr>
          <p:cNvPr id="39" name="Shape 37"/>
          <p:cNvSpPr/>
          <p:nvPr/>
        </p:nvSpPr>
        <p:spPr>
          <a:xfrm>
            <a:off x="9509760" y="402336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509760" y="4023360"/>
            <a:ext cx="73152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92640" y="4114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SUKL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692640" y="44805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léky, ePreskripce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406640" y="2926080"/>
            <a:ext cx="2103120" cy="150876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headEnd type="triangle"/>
          </a:ln>
        </p:spPr>
      </p:sp>
      <p:sp>
        <p:nvSpPr>
          <p:cNvPr id="44" name="Shape 42"/>
          <p:cNvSpPr/>
          <p:nvPr/>
        </p:nvSpPr>
        <p:spPr>
          <a:xfrm>
            <a:off x="9509760" y="5303520"/>
            <a:ext cx="2011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509760" y="5303520"/>
            <a:ext cx="73152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92640" y="539496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NÚDZ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692640" y="576072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mentální zdraví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406640" y="2926080"/>
            <a:ext cx="2103120" cy="2788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dash"/>
            <a:headEnd type="triangle"/>
          </a:ln>
        </p:spPr>
      </p:sp>
      <p:sp>
        <p:nvSpPr>
          <p:cNvPr id="49" name="Text 47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veřejný portál  ·  → otevřená data  ·  → výroční zpráva  ·  → API pro odbornou komunitu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Zdravé Česko · HSPA pro ČR · květen 2026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BUDE PROJEKT ŘÍZEN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Pětistupňová governance po vzoru belgického KCE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881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2286000" cy="84124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544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 &amp; MANDÁT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84708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Advisory Board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08960" y="162763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Předsedá ministr · MZČR, MF, ÚZIS, SZÚ, NRC, VZP, SZP, ČLK, ČAS, AKČR, pacient. organizace, OECD/WHO observer.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377440"/>
            <a:ext cx="10881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377440"/>
            <a:ext cx="2286000" cy="8412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4688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76148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Hlavní pracovní skupina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08960" y="254203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Vede ÚZIS. Sestavuje indikátory, koordinuje technické skupiny, dohlíží na publikaci.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291840"/>
            <a:ext cx="10881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291840"/>
            <a:ext cx="2286000" cy="8412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3832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METODIKA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67588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Technické fokusní skupiny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08960" y="345643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jedné na doménu. Garanti dat: NRC (kvalita), SZÚ (rizika), VZP/SZP (finance), ÚZIS (struktury).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206240"/>
            <a:ext cx="10881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206240"/>
            <a:ext cx="2286000" cy="8412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297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459028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Externí vědecký panel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108960" y="437083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Nezávislí akademici (LF, IZPE, CERGE-EI, IPVZ). Posuzuje metodickou robustnost a aspirační indikátory.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120640"/>
            <a:ext cx="10881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5120640"/>
            <a:ext cx="2286000" cy="841248"/>
          </a:xfrm>
          <a:prstGeom prst="rect">
            <a:avLst/>
          </a:prstGeom>
          <a:solidFill>
            <a:srgbClr val="38761D"/>
          </a:solidFill>
          <a:ln w="12700">
            <a:solidFill>
              <a:srgbClr val="38761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2120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TRANSPARENTNOST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" y="550468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Roční stakeholder konference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108960" y="528523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Veřejná, online. Prezentace zprávy, debata o prioritách. Belgická obdoba má 300+ účastníků.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Zdravé Česko · HSPA pro ČR · květen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IMPLEMENTAČNÍ ROADMAPA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Tři fáze · 36 měsíců · MVP do roku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5204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352044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FÁZE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Jádro · M0–M12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31546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HLAB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jádrových indikátorů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Datová pipeline (NZIS, NRC, ČSÚ)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Veřejný portál + uživ. testování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+ první zpráva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5532120"/>
            <a:ext cx="352044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5577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Rozpočet:  ~33,5 M Kč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34840" y="1554480"/>
            <a:ext cx="35204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4840" y="1554480"/>
            <a:ext cx="3520440" cy="1005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FÁZE 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Moduly · M13–M24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09160" y="2697480"/>
            <a:ext cx="31546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Mentální zdraví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Prevence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Péče o seniory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Equity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krajů, ORP drilldowns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34840" y="5532120"/>
            <a:ext cx="352044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5577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Rozpočet:  ~26,4 M Kč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0" y="1554480"/>
            <a:ext cx="35204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0" y="1554480"/>
            <a:ext cx="3520440" cy="10058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FÁZE 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458200" y="2011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Pokročilé · M25–M36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503920" y="2697480"/>
            <a:ext cx="31546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Závěr života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Environment. udržitel.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Prediktivní analytika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Otevřené API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Druhá velká HSPA zpráva (2029)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29600" y="5532120"/>
            <a:ext cx="3520440" cy="594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8200" y="5577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Rozpočet:  ~24,8 M Kč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Zdravé Česko · HSPA pro ČR · květen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ROZPOČET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 mil. Kč na 3 roky · zlomek nákladů jednoho křídla nemocnice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4754880" cy="2286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691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CELKOVÝ ROZPOČET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 mil. Kč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3 roky implementace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760720" y="1463040"/>
          <a:ext cx="5943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640080" y="4114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Možné zdroje financování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452628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Národní plán obnovy (NPO) — eHealth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OPZ 2021–2027 a 2028+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EU4Health / DG SANTE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Rozpočet MZČR + ÚZIS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Tech. pomoc OECD/EK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Zdravé Česko · HSPA pro ČR · květen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RIZIKA &amp; MITIGACE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Pět hlavních rizik a jak je řešíme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777240" cy="84124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0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60020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Politický cyklus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Pravděpodobnost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49240" y="1719072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Smluvní memorandum napříč stranami; ukotvit na ÚZIS dle zákona 372/2011 Sb.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468880"/>
            <a:ext cx="10881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468880"/>
            <a:ext cx="777240" cy="841248"/>
          </a:xfrm>
          <a:prstGeom prst="rect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14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60020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Resistence poskytovatelů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Pravděpodobnost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49240" y="2633472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Zapojit ČLK, ČAS, AKČR od počátku; anonymní benchmark v F1, deanonymizace postupně.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383280"/>
            <a:ext cx="10881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383280"/>
            <a:ext cx="777240" cy="841248"/>
          </a:xfrm>
          <a:prstGeom prst="rect">
            <a:avLst/>
          </a:prstGeom>
          <a:solidFill>
            <a:srgbClr val="990000"/>
          </a:solidFill>
          <a:ln w="12700">
            <a:solidFill>
              <a:srgbClr val="99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290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160020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Datové mezery (PROMs, equity)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020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Pravděpodobnost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49240" y="3547872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Aspirační indikátory označit; investovat do rozšíření NRC PROMs.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297680"/>
            <a:ext cx="10881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4297680"/>
            <a:ext cx="777240" cy="841248"/>
          </a:xfrm>
          <a:prstGeom prst="rect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3434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160020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Pomalá adopce uživateli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00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Pravděpodobnost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49240" y="4462272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testování v Beta fázi; PR kampaň při launchi; integrace s NZIP.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212080"/>
            <a:ext cx="10881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5212080"/>
            <a:ext cx="777240" cy="841248"/>
          </a:xfrm>
          <a:prstGeom prst="rect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5257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1600200" y="5303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/ ochrana dat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600200" y="5669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Pravděpodobnost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49240" y="5376672"/>
            <a:ext cx="6263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Pouze agregátní data; anonymizační audit s ÚOOÚ před launchem.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Legenda:  V = Vysoká pravděpodobnost  ·  S = Střední  ·  N = Nízká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Zdravé Česko · HSPA pro ČR · květen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ÚSPĚCHU PROJEKTU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měří sám sebe stejnou logikou jako systém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2697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269748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→ 120+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Indikátorů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jádro → plný rámec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1554480"/>
            <a:ext cx="2697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554480"/>
            <a:ext cx="269748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/ rok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5760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Frekvence aktualizace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jádro; měsíčně vybrané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1554480"/>
            <a:ext cx="2697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554480"/>
            <a:ext cx="269748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 → 50k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9224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Návštěvníků / měsíc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→ F3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0" y="1554480"/>
            <a:ext cx="2697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0" y="1554480"/>
            <a:ext cx="269748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0" y="18288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→ 20+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32688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Stakeholderů v HLAB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6880" y="3063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včetně OECD/WHO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749040"/>
            <a:ext cx="2697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749040"/>
            <a:ext cx="269748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023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822960" y="4892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Pokrytí metodikou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5257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každý indikátor má kartu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0" y="3749040"/>
            <a:ext cx="2697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474720" y="3749040"/>
            <a:ext cx="269748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0" y="4023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→ 100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3657600" y="4892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Odkazů v mediích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57600" y="5257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odborná i obecná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09360" y="3749040"/>
            <a:ext cx="2697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309360" y="3749040"/>
            <a:ext cx="269748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4023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→ 5k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492240" y="4892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Stažení dat / rok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92240" y="5257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otevřená data CSV/JSON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144000" y="3749040"/>
            <a:ext cx="26974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144000" y="3749040"/>
            <a:ext cx="269748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26880" y="40233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80 %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9326880" y="48920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Spokojenost UX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326880" y="5257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dotazníkové měření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Zdravé Česko · HSPA pro ČR · květen 2026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47120" y="65653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2743200"/>
            <a:ext cx="6400800" cy="6400800"/>
          </a:xfrm>
          <a:prstGeom prst="ellipse">
            <a:avLst/>
          </a:prstGeom>
          <a:solidFill>
            <a:srgbClr val="065A82">
              <a:alpha val="3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0"/>
            <a:ext cx="137160" cy="914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potřebujeme do 30 dnů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691640" y="3063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Politický mandát od MZČR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3520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Memorandum o pokračování projektu HSPA — formální zařazení do pracovních priorit ministra a pracovního týmu.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0690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691640" y="40233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Ustavení HLAB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91640" y="4480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Jmenování členů High-Level Advisory Board napříč MZČR, MF, ÚZIS, SZÚ, NRC, pojišťovny, ČLK, pacient. organizace.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50292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691640" y="4983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Aplikace o financování Fáze 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5440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Podání žádosti do NPO/OPZ + paralelní otevření tech. pomoci OECD/EK. Cílová částka 33,5 mil. Kč na 12 měsíců.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6309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Děkuji za pozornost.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0" y="6309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Zdravé Česko · jaro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Zdravé Česko – HSPA</dc:title>
  <dc:subject>PptxGenJS Presentation</dc:subject>
  <dc:creator>HSPA Project</dc:creator>
  <cp:lastModifiedBy>HSPA Project</cp:lastModifiedBy>
  <cp:revision>1</cp:revision>
  <dcterms:created xsi:type="dcterms:W3CDTF">2026-05-04T19:37:29Z</dcterms:created>
  <dcterms:modified xsi:type="dcterms:W3CDTF">2026-05-04T19:37:29Z</dcterms:modified>
</cp:coreProperties>
</file>